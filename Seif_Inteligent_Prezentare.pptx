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g1czGNXfdrMXys9swqpNibn2Tx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4a485363c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g3e4a485363c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g3e4a485363c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e4a485363c_0_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g3e4a485363c_0_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e4a485363c_0_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4a485363c_0_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g3e4a485363c_0_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e4a485363c_0_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20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077B6">
              <a:alpha val="20000"/>
            </a:srgbClr>
          </a:solidFill>
          <a:ln cap="flat" cmpd="sng" w="12700">
            <a:solidFill>
              <a:srgbClr val="0077B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" name="Google Shape;1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822960"/>
            <a:ext cx="1005840" cy="100584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"/>
          <p:cNvSpPr/>
          <p:nvPr/>
        </p:nvSpPr>
        <p:spPr>
          <a:xfrm>
            <a:off x="228600" y="192024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SEIF INTELIGENT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228600" y="2834640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Bazat pe Raspberry Pi Pico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228600" y="3413543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CC3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EACC3"/>
                </a:solidFill>
                <a:latin typeface="Calibri"/>
                <a:ea typeface="Calibri"/>
                <a:cs typeface="Calibri"/>
                <a:sym typeface="Calibri"/>
              </a:rPr>
              <a:t>Sistem de control acces cu PIN, senzor de efracție și alarmă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228600" y="4297680"/>
            <a:ext cx="2926080" cy="50292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228600" y="4297680"/>
            <a:ext cx="2926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CC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EACC3"/>
                </a:solidFill>
                <a:latin typeface="Calibri"/>
                <a:ea typeface="Calibri"/>
                <a:cs typeface="Calibri"/>
                <a:sym typeface="Calibri"/>
              </a:rPr>
              <a:t>Proiect Sisteme </a:t>
            </a:r>
            <a:r>
              <a:rPr lang="en-US" sz="1100">
                <a:solidFill>
                  <a:srgbClr val="8EACC3"/>
                </a:solidFill>
                <a:latin typeface="Calibri"/>
                <a:ea typeface="Calibri"/>
                <a:cs typeface="Calibri"/>
                <a:sym typeface="Calibri"/>
              </a:rPr>
              <a:t>cu Microprocesoare </a:t>
            </a:r>
            <a:r>
              <a:rPr b="0" i="0" lang="en-US" sz="1100" u="none" cap="none" strike="noStrike">
                <a:solidFill>
                  <a:srgbClr val="8EACC3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lang="en-US" sz="1100">
                <a:solidFill>
                  <a:srgbClr val="8EACC3"/>
                </a:solidFill>
                <a:latin typeface="Calibri"/>
                <a:ea typeface="Calibri"/>
                <a:cs typeface="Calibri"/>
                <a:sym typeface="Calibri"/>
              </a:rPr>
              <a:t>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943600" y="4297743"/>
            <a:ext cx="2926200" cy="50280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943600" y="4297743"/>
            <a:ext cx="2926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C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EACC3"/>
                </a:solidFill>
                <a:latin typeface="Calibri"/>
                <a:ea typeface="Calibri"/>
                <a:cs typeface="Calibri"/>
                <a:sym typeface="Calibri"/>
              </a:rPr>
              <a:t>Chira Ioana &amp; Lefter Alesia ~ 1309B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DESCRIERE PROIECT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365760" y="82296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Un seif inteligent controlat prin microcontroler Raspberry Pi Pico, cu autentificare PIN, feedback vizual pe LCD și protecție anti-efracție.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320040" y="1691640"/>
            <a:ext cx="27432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320040" y="1691640"/>
            <a:ext cx="54864" cy="12801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562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886968" y="180136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Autentificare PIN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86968" y="2194560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Cod PIN de 4 cifre introdus prin tastatura matriceală 4×4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3246120" y="1691640"/>
            <a:ext cx="27432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246120" y="1691640"/>
            <a:ext cx="54864" cy="128016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83280" y="18562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3813048" y="180136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LCD Display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813048" y="2194560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Afișaj ST7735 via SPI cu mesaje de stare în timp real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172200" y="1691640"/>
            <a:ext cx="27432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172200" y="1691640"/>
            <a:ext cx="54864" cy="12801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6" name="Google Shape;4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9360" y="185623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2"/>
          <p:cNvSpPr/>
          <p:nvPr/>
        </p:nvSpPr>
        <p:spPr>
          <a:xfrm>
            <a:off x="6739128" y="180136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Servo Motor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739128" y="2194560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Mecanism de blocare/deblocare controlat PWM la 5V VBUS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0040" y="3154680"/>
            <a:ext cx="27432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320040" y="3154680"/>
            <a:ext cx="54864" cy="1280160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1" name="Google Shape;51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3319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"/>
          <p:cNvSpPr/>
          <p:nvPr/>
        </p:nvSpPr>
        <p:spPr>
          <a:xfrm>
            <a:off x="886968" y="326440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Senzor LDR + DMA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886968" y="3657600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Fotorezistență citită prin ADC cu DMA continuu (8 sample-uri)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246120" y="3154680"/>
            <a:ext cx="27432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246120" y="3154680"/>
            <a:ext cx="54864" cy="12801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6" name="Google Shape;56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383280" y="3319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2"/>
          <p:cNvSpPr/>
          <p:nvPr/>
        </p:nvSpPr>
        <p:spPr>
          <a:xfrm>
            <a:off x="3813048" y="326440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Buzzer Alarmă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813048" y="3657600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Timer repeating la 500 ms pentru semnal sonor de efracție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6172200" y="3154680"/>
            <a:ext cx="2743200" cy="128016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DEEF5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172200" y="3154680"/>
            <a:ext cx="54864" cy="12801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1" name="Google Shape;61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309360" y="3319272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"/>
          <p:cNvSpPr/>
          <p:nvPr/>
        </p:nvSpPr>
        <p:spPr>
          <a:xfrm>
            <a:off x="6739128" y="3264408"/>
            <a:ext cx="208483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Anti Brute-Force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6739128" y="3657600"/>
            <a:ext cx="208483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Blocare 30 secunde după 3 încercări greșite consecutive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a485363c_0_7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1B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g3e4a485363c_0_7"/>
          <p:cNvSpPr/>
          <p:nvPr/>
        </p:nvSpPr>
        <p:spPr>
          <a:xfrm>
            <a:off x="274320" y="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 LA CONCEPT LA REALITATE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" name="Google Shape;71;g3e4a485363c_0_7" title="IMG_045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075" y="1104650"/>
            <a:ext cx="4306448" cy="338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e4a485363c_0_7" title="IMG_04543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299" y="803375"/>
            <a:ext cx="3472475" cy="412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4a485363c_0_42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1B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e4a485363c_0_42"/>
          <p:cNvSpPr/>
          <p:nvPr/>
        </p:nvSpPr>
        <p:spPr>
          <a:xfrm>
            <a:off x="274320" y="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t/>
            </a:r>
            <a:endParaRPr b="1" sz="2000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DE LA CONCEPT LA REALITATE</a:t>
            </a:r>
            <a:endParaRPr b="1" sz="2000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t/>
            </a:r>
            <a:endParaRPr b="1" sz="2000">
              <a:solidFill>
                <a:srgbClr val="00B4D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" name="Google Shape;80;g3e4a485363c_0_42" title="abc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7475" y="771075"/>
            <a:ext cx="5599561" cy="4198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4a485363c_0_76"/>
          <p:cNvSpPr/>
          <p:nvPr/>
        </p:nvSpPr>
        <p:spPr>
          <a:xfrm>
            <a:off x="0" y="0"/>
            <a:ext cx="9144000" cy="64020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e4a485363c_0_76"/>
          <p:cNvSpPr/>
          <p:nvPr/>
        </p:nvSpPr>
        <p:spPr>
          <a:xfrm>
            <a:off x="274320" y="0"/>
            <a:ext cx="82296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lang="en-US" sz="2000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DIAGRAMA USE CASE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g3e4a485363c_0_76" title="use-c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2600"/>
            <a:ext cx="8839199" cy="425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1B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ARHITECTURA HARDWARE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3383280" y="1920240"/>
            <a:ext cx="2377440" cy="1188720"/>
          </a:xfrm>
          <a:prstGeom prst="rect">
            <a:avLst/>
          </a:prstGeom>
          <a:solidFill>
            <a:srgbClr val="0077B6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3383280" y="19202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Raspberry Pi Pico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3383280" y="246888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RP2040 · 264KB RAM · 2MB Flash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137160" y="777240"/>
            <a:ext cx="2194560" cy="105156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/>
          <p:nvPr/>
        </p:nvSpPr>
        <p:spPr>
          <a:xfrm>
            <a:off x="228600" y="8229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Tastatura 4×4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28600" y="117043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GP16-22, GP26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8 GPIO (linii+coloane)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137160" y="2423160"/>
            <a:ext cx="2194560" cy="105156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228600" y="2468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LCD ST7735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228600" y="281635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SPI0 · GP2,3,4,5,6,7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20 MHz · 128×160px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137160" y="3794760"/>
            <a:ext cx="2194560" cy="105156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228600" y="38404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Servo Motor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228600" y="418795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GP15 · PWM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VBUS 5V · unghi 0–230°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6675120" y="777240"/>
            <a:ext cx="2194560" cy="105156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"/>
          <p:cNvSpPr/>
          <p:nvPr/>
        </p:nvSpPr>
        <p:spPr>
          <a:xfrm>
            <a:off x="6766560" y="82296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Senzor LDR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766560" y="117043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GP27 · ADC1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DMA continuu · 8 samples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6675120" y="2423160"/>
            <a:ext cx="2194560" cy="105156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"/>
          <p:cNvSpPr/>
          <p:nvPr/>
        </p:nvSpPr>
        <p:spPr>
          <a:xfrm>
            <a:off x="6766560" y="24688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63946"/>
                </a:solidFill>
                <a:latin typeface="Calibri"/>
                <a:ea typeface="Calibri"/>
                <a:cs typeface="Calibri"/>
                <a:sym typeface="Calibri"/>
              </a:rPr>
              <a:t>Buzzer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766560" y="2816352"/>
            <a:ext cx="2011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GP14 · GPIO Digital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Timer 500 ms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p3"/>
          <p:cNvCxnSpPr/>
          <p:nvPr/>
        </p:nvCxnSpPr>
        <p:spPr>
          <a:xfrm>
            <a:off x="2331720" y="1161288"/>
            <a:ext cx="1051560" cy="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5" name="Google Shape;115;p3"/>
          <p:cNvCxnSpPr/>
          <p:nvPr/>
        </p:nvCxnSpPr>
        <p:spPr>
          <a:xfrm>
            <a:off x="2331720" y="2807208"/>
            <a:ext cx="1051560" cy="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6" name="Google Shape;116;p3"/>
          <p:cNvCxnSpPr/>
          <p:nvPr/>
        </p:nvCxnSpPr>
        <p:spPr>
          <a:xfrm>
            <a:off x="2331720" y="4114800"/>
            <a:ext cx="1163400" cy="1680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7" name="Google Shape;117;p3"/>
          <p:cNvCxnSpPr/>
          <p:nvPr/>
        </p:nvCxnSpPr>
        <p:spPr>
          <a:xfrm>
            <a:off x="5760720" y="1161288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18" name="Google Shape;118;p3"/>
          <p:cNvCxnSpPr/>
          <p:nvPr/>
        </p:nvCxnSpPr>
        <p:spPr>
          <a:xfrm>
            <a:off x="5760720" y="2807208"/>
            <a:ext cx="914400" cy="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9" name="Google Shape;119;p3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EACC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EACC3"/>
                </a:solidFill>
                <a:latin typeface="Calibri"/>
                <a:ea typeface="Calibri"/>
                <a:cs typeface="Calibri"/>
                <a:sym typeface="Calibri"/>
              </a:rPr>
              <a:t>PIN-uri configurate în header.h · Alimentare: USB 5V sau baterii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3"/>
          <p:cNvCxnSpPr/>
          <p:nvPr/>
        </p:nvCxnSpPr>
        <p:spPr>
          <a:xfrm>
            <a:off x="3351650" y="1165050"/>
            <a:ext cx="287100" cy="75360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1" name="Google Shape;121;p3"/>
          <p:cNvCxnSpPr/>
          <p:nvPr/>
        </p:nvCxnSpPr>
        <p:spPr>
          <a:xfrm flipH="1" rot="10800000">
            <a:off x="5157850" y="1165050"/>
            <a:ext cx="634200" cy="75360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2" name="Google Shape;122;p3"/>
          <p:cNvCxnSpPr/>
          <p:nvPr/>
        </p:nvCxnSpPr>
        <p:spPr>
          <a:xfrm flipH="1" rot="10800000">
            <a:off x="3471275" y="3126850"/>
            <a:ext cx="550200" cy="1004700"/>
          </a:xfrm>
          <a:prstGeom prst="straightConnector1">
            <a:avLst/>
          </a:prstGeom>
          <a:noFill/>
          <a:ln cap="flat" cmpd="sng" w="19050">
            <a:solidFill>
              <a:srgbClr val="3A6F8F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LOGICA APLICAȚIEI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274320" y="777240"/>
            <a:ext cx="2011680" cy="82296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47472" y="813816"/>
            <a:ext cx="18653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Inițializare module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274320" y="1828800"/>
            <a:ext cx="2011680" cy="731520"/>
          </a:xfrm>
          <a:prstGeom prst="rect">
            <a:avLst/>
          </a:prstGeom>
          <a:solidFill>
            <a:srgbClr val="E0F0FF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347472" y="1865376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Asteaptă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tastă apăsată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274320" y="2880360"/>
            <a:ext cx="2011680" cy="731520"/>
          </a:xfrm>
          <a:prstGeom prst="rect">
            <a:avLst/>
          </a:prstGeom>
          <a:solidFill>
            <a:srgbClr val="E0F0FF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347472" y="2916936"/>
            <a:ext cx="186537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Adaugă cifră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la buffer PIN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2651760" y="777240"/>
            <a:ext cx="2011680" cy="82296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2724912" y="813816"/>
            <a:ext cx="18653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# → Verifică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 introdus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2651760" y="2011680"/>
            <a:ext cx="2011680" cy="822960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2724912" y="2048256"/>
            <a:ext cx="18653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 Corect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servo_deschide()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2651760" y="3200400"/>
            <a:ext cx="2011680" cy="8229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2724912" y="3236976"/>
            <a:ext cx="18653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 Greșit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incercari++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5029200" y="3200400"/>
            <a:ext cx="2103120" cy="8229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5102352" y="3236976"/>
            <a:ext cx="195681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incercari ≥ 3?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lockout_sequence()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5029200" y="777240"/>
            <a:ext cx="2011680" cy="82296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5102352" y="813816"/>
            <a:ext cx="18653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 → Inchide seiful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servo_inchide()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5029200" y="2011680"/>
            <a:ext cx="2011680" cy="822960"/>
          </a:xfrm>
          <a:prstGeom prst="rect">
            <a:avLst/>
          </a:prstGeom>
          <a:solidFill>
            <a:srgbClr val="D8E8F0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5102352" y="2048256"/>
            <a:ext cx="18653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D → Delete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ultima cifră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7315200" y="777240"/>
            <a:ext cx="1554480" cy="822960"/>
          </a:xfrm>
          <a:prstGeom prst="rect">
            <a:avLst/>
          </a:prstGeom>
          <a:solidFill>
            <a:srgbClr val="E63946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7388352" y="813816"/>
            <a:ext cx="14081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LDR detectează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lumină → ALARMĂ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7315200" y="2011680"/>
            <a:ext cx="1554480" cy="822960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BBCC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7388352" y="2048256"/>
            <a:ext cx="1408176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Lockout 30s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Buzzer activ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274320" y="4251960"/>
            <a:ext cx="8595360" cy="594360"/>
          </a:xfrm>
          <a:prstGeom prst="rect">
            <a:avLst/>
          </a:prstGeom>
          <a:solidFill>
            <a:srgbClr val="E0F0FF"/>
          </a:solidFill>
          <a:ln>
            <a:noFill/>
          </a:ln>
        </p:spPr>
        <p:txBody>
          <a:bodyPr anchorCtr="0" anchor="ctr" bIns="101600" lIns="101600" spcFirstLastPara="1" rIns="1016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Bucla principală while(true) verifică și LDR-ul la fiecare iterație, independent de input-ul de la tastatură.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5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1B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MODULE SOFTWARE IMPLEMENTATE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486400" y="777240"/>
            <a:ext cx="3474720" cy="406908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0077B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5577840" y="868680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Fișiere proiect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623560" y="129844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📄 seif.c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5623560" y="160934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CC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EACC3"/>
                </a:solidFill>
                <a:latin typeface="Consolas"/>
                <a:ea typeface="Consolas"/>
                <a:cs typeface="Consolas"/>
                <a:sym typeface="Consolas"/>
              </a:rPr>
              <a:t>📄 header.h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5623560" y="192024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📄 tastatura.c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623560" y="223113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📄 lcd.c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5623560" y="2542032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📄 servo.c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5623560" y="28529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📄 buzzer.c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623560" y="3163824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📄 senzor.c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623560" y="3474720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CC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EACC3"/>
                </a:solidFill>
                <a:latin typeface="Consolas"/>
                <a:ea typeface="Consolas"/>
                <a:cs typeface="Consolas"/>
                <a:sym typeface="Consolas"/>
              </a:rPr>
              <a:t>📄 CMakeLists.txt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5623560" y="3785616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EACC3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8EACC3"/>
                </a:solidFill>
                <a:latin typeface="Consolas"/>
                <a:ea typeface="Consolas"/>
                <a:cs typeface="Consolas"/>
                <a:sym typeface="Consolas"/>
              </a:rPr>
              <a:t>📄 pico_sdk_import.cmake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182880" y="777240"/>
            <a:ext cx="1691640" cy="192024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256032" y="8229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0B4D8"/>
                </a:solidFill>
                <a:latin typeface="Consolas"/>
                <a:ea typeface="Consolas"/>
                <a:cs typeface="Consolas"/>
                <a:sym typeface="Consolas"/>
              </a:rPr>
              <a:t>tastatura.c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56032" y="1161288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Scanare matrice 4×4 prin polling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256032" y="15087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Debounce hardware: 20 ms la apăsare + 100 ms la eliberare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56032" y="185623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Mapare keymap[ROWS][COLS] → caractere ASCII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256032" y="2203704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Suport interrupt handler keypad_low_handler()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1965960" y="777240"/>
            <a:ext cx="1691640" cy="192024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2039112" y="8229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A261"/>
                </a:solidFill>
                <a:latin typeface="Consolas"/>
                <a:ea typeface="Consolas"/>
                <a:cs typeface="Consolas"/>
                <a:sym typeface="Consolas"/>
              </a:rPr>
              <a:t>lcd.c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039112" y="1161288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Font bitmap 5×7, scala variabilă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2039112" y="15087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Driver SPI la 20 MHz pentru ST7735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2039112" y="185623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Funcții: lcd_show_pin(), lcd_show_ok/err(), lcd_show_alarm()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2039112" y="2203704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lcd_show_lockout() cu countdown secunde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3749040" y="777240"/>
            <a:ext cx="1691640" cy="192024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5"/>
          <p:cNvSpPr/>
          <p:nvPr/>
        </p:nvSpPr>
        <p:spPr>
          <a:xfrm>
            <a:off x="3822192" y="8229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servo.c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822192" y="1161288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PWM cu clkdiv=64, wrap=39062 (50 Hz)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3822192" y="15087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Puls: 1953 + (unghi × 1953)/180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3822192" y="185623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Mișcare lentă servo_set_angle_slow() pas cu pas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3822192" y="2203704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servo_deschide() → 230° · servo_inchide() → 0°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069848" y="2834640"/>
            <a:ext cx="1691640" cy="192024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1143000" y="28803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senzor.c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1143000" y="3218688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ADC în modul free-running pe canal ADC1 (GP27)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1143000" y="35661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DMA continuu → buffer de 8 sample-uri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1143000" y="391363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IRQ DMA_IRQ_0 resetează write-addr automat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5"/>
          <p:cNvSpPr/>
          <p:nvPr/>
        </p:nvSpPr>
        <p:spPr>
          <a:xfrm>
            <a:off x="1143000" y="4261104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alarma_start() / alarma_stop() cu repeating_timer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2880360" y="2834640"/>
            <a:ext cx="1691640" cy="192024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E6394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2953512" y="28803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394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E63946"/>
                </a:solidFill>
                <a:latin typeface="Consolas"/>
                <a:ea typeface="Consolas"/>
                <a:cs typeface="Consolas"/>
                <a:sym typeface="Consolas"/>
              </a:rPr>
              <a:t>buzzer.c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2953512" y="3218688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GPIO digital simplu, activ HIGH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2953512" y="3566160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buzzer_beep(ms) → blocare sincronă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2953512" y="3913632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Alarmă asincronă prin repeating_timer din senzor.c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2953512" y="4261104"/>
            <a:ext cx="1545336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› Toggle la 500 ms independent de bucla principală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8FB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274320" y="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CERINȚE FUNCȚIONALE &amp; NON-FUNCȚIONALE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228600" y="749808"/>
            <a:ext cx="4114800" cy="411480"/>
          </a:xfrm>
          <a:prstGeom prst="rect">
            <a:avLst/>
          </a:prstGeom>
          <a:solidFill>
            <a:srgbClr val="0D1B2A"/>
          </a:solidFill>
          <a:ln cap="flat" cmpd="sng" w="12700">
            <a:solidFill>
              <a:srgbClr val="0D1B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320040" y="74980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4D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B4D8"/>
                </a:solidFill>
                <a:latin typeface="Calibri"/>
                <a:ea typeface="Calibri"/>
                <a:cs typeface="Calibri"/>
                <a:sym typeface="Calibri"/>
              </a:rPr>
              <a:t>✔  Cerințe Funcționale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228600" y="1261872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228600" y="1261872"/>
            <a:ext cx="45720" cy="62179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2" name="Google Shape;2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138074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6"/>
          <p:cNvSpPr/>
          <p:nvPr/>
        </p:nvSpPr>
        <p:spPr>
          <a:xfrm>
            <a:off x="676656" y="129844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Autentificare PIN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676656" y="1572768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Tastatura 4×4, cod de 4 cifre, validare la apăsarea #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28600" y="1975104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228600" y="1975104"/>
            <a:ext cx="45720" cy="62179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7" name="Google Shape;2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09397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6"/>
          <p:cNvSpPr/>
          <p:nvPr/>
        </p:nvSpPr>
        <p:spPr>
          <a:xfrm>
            <a:off x="676656" y="201168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Deschidere servo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76656" y="22860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Servo motor rotit la 230° la PIN corect, 0° la blocare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228600" y="2688336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228600" y="2688336"/>
            <a:ext cx="45720" cy="62179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2" name="Google Shape;2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80720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6"/>
          <p:cNvSpPr/>
          <p:nvPr/>
        </p:nvSpPr>
        <p:spPr>
          <a:xfrm>
            <a:off x="676656" y="272491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Feedback LCD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676656" y="299923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Mesaje PIN/OK/Eroare/Alarmă/Lockout pe display ST7735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228600" y="3401568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228600" y="3401568"/>
            <a:ext cx="45720" cy="62179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7" name="Google Shape;22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352044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6"/>
          <p:cNvSpPr/>
          <p:nvPr/>
        </p:nvSpPr>
        <p:spPr>
          <a:xfrm>
            <a:off x="676656" y="343814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Alarmă LDR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76656" y="3712464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Dacă seiful e închis și detectează lumină → alarmă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228600" y="4114800"/>
            <a:ext cx="4114800" cy="62179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228600" y="4114800"/>
            <a:ext cx="45720" cy="621792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32" name="Google Shape;23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423367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6"/>
          <p:cNvSpPr/>
          <p:nvPr/>
        </p:nvSpPr>
        <p:spPr>
          <a:xfrm>
            <a:off x="676656" y="415137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Anti brute-force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76656" y="4425696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3 încercări greșite → blocare 30 s + buzzer continuu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4754880" y="749808"/>
            <a:ext cx="4160520" cy="411480"/>
          </a:xfrm>
          <a:prstGeom prst="rect">
            <a:avLst/>
          </a:prstGeom>
          <a:solidFill>
            <a:srgbClr val="1B2D42"/>
          </a:solidFill>
          <a:ln cap="flat" cmpd="sng" w="12700">
            <a:solidFill>
              <a:srgbClr val="1B2D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4846320" y="749808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A26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A261"/>
                </a:solidFill>
                <a:latin typeface="Calibri"/>
                <a:ea typeface="Calibri"/>
                <a:cs typeface="Calibri"/>
                <a:sym typeface="Calibri"/>
              </a:rPr>
              <a:t>⚙  Cerințe Non-Funcționale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4754880" y="1261872"/>
            <a:ext cx="416052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4754880" y="1261872"/>
            <a:ext cx="45720" cy="74980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4892040" y="131673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Timp de răspuns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4892040" y="162763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Reacție imediată la tastatură; alarmă LDR fără delay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4754880" y="2130552"/>
            <a:ext cx="416052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4754880" y="2130552"/>
            <a:ext cx="45720" cy="74980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6"/>
          <p:cNvSpPr/>
          <p:nvPr/>
        </p:nvSpPr>
        <p:spPr>
          <a:xfrm>
            <a:off x="4892040" y="218541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Securitate date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892040" y="249631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PIN stocat în Flash ROM la compilare, nu modificabil la runtime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6"/>
          <p:cNvSpPr/>
          <p:nvPr/>
        </p:nvSpPr>
        <p:spPr>
          <a:xfrm>
            <a:off x="4754880" y="2999232"/>
            <a:ext cx="416052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6"/>
          <p:cNvSpPr/>
          <p:nvPr/>
        </p:nvSpPr>
        <p:spPr>
          <a:xfrm>
            <a:off x="4754880" y="2999232"/>
            <a:ext cx="45720" cy="74980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4892040" y="305409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Alimentare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6"/>
          <p:cNvSpPr/>
          <p:nvPr/>
        </p:nvSpPr>
        <p:spPr>
          <a:xfrm>
            <a:off x="4892040" y="336499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USB 5V sau baterii externe; consum redus în idle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4754880" y="3867912"/>
            <a:ext cx="4160520" cy="74980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E5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4754880" y="3867912"/>
            <a:ext cx="45720" cy="749808"/>
          </a:xfrm>
          <a:prstGeom prst="rect">
            <a:avLst/>
          </a:prstGeom>
          <a:solidFill>
            <a:srgbClr val="F4A261"/>
          </a:solidFill>
          <a:ln cap="flat" cmpd="sng" w="12700">
            <a:solidFill>
              <a:srgbClr val="F4A2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4892040" y="3922776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D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B2D42"/>
                </a:solidFill>
                <a:latin typeface="Calibri"/>
                <a:ea typeface="Calibri"/>
                <a:cs typeface="Calibri"/>
                <a:sym typeface="Calibri"/>
              </a:rPr>
              <a:t>Portabilitate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4892040" y="4233672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07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A6070"/>
                </a:solidFill>
                <a:latin typeface="Calibri"/>
                <a:ea typeface="Calibri"/>
                <a:cs typeface="Calibri"/>
                <a:sym typeface="Calibri"/>
              </a:rPr>
              <a:t>Cod modular pe fișiere separate, ușor de extins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B2A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5486400" y="-1371600"/>
            <a:ext cx="5486400" cy="5486400"/>
          </a:xfrm>
          <a:prstGeom prst="ellipse">
            <a:avLst/>
          </a:prstGeom>
          <a:solidFill>
            <a:srgbClr val="0077B6">
              <a:alpha val="14901"/>
            </a:srgbClr>
          </a:solidFill>
          <a:ln cap="flat" cmpd="sng" w="12700">
            <a:solidFill>
              <a:srgbClr val="0077B6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cap="flat" cmpd="sng" w="12700">
            <a:solidFill>
              <a:srgbClr val="00B4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0" name="Google Shape;26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50292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7"/>
          <p:cNvSpPr/>
          <p:nvPr/>
        </p:nvSpPr>
        <p:spPr>
          <a:xfrm>
            <a:off x="228600" y="1554480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CONCLUZII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2" name="Google Shape;2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60" y="236829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7"/>
          <p:cNvSpPr/>
          <p:nvPr/>
        </p:nvSpPr>
        <p:spPr>
          <a:xfrm>
            <a:off x="777240" y="233172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Sistem complet funcțional: PIN + servo + LCD + LDR + buzzer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4" name="Google Shape;26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760" y="287121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7"/>
          <p:cNvSpPr/>
          <p:nvPr/>
        </p:nvSpPr>
        <p:spPr>
          <a:xfrm>
            <a:off x="777240" y="283464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Arhitectură modulară: fiecare componentă în fișier separat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6" name="Google Shape;266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5760" y="337413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7"/>
          <p:cNvSpPr/>
          <p:nvPr/>
        </p:nvSpPr>
        <p:spPr>
          <a:xfrm>
            <a:off x="777240" y="333756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Utilizare avansată hardware: DMA, PWM, SPI, ADC, IRQ, Timer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8" name="Google Shape;268;p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5760" y="387705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7"/>
          <p:cNvSpPr/>
          <p:nvPr/>
        </p:nvSpPr>
        <p:spPr>
          <a:xfrm>
            <a:off x="777240" y="384048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Securitate pe mai multe niveluri: PIN + anti brute-force + senzor fizic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760" y="4379976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7"/>
          <p:cNvSpPr/>
          <p:nvPr/>
        </p:nvSpPr>
        <p:spPr>
          <a:xfrm>
            <a:off x="777240" y="4343400"/>
            <a:ext cx="8046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F0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0F0FF"/>
                </a:solidFill>
                <a:latin typeface="Calibri"/>
                <a:ea typeface="Calibri"/>
                <a:cs typeface="Calibri"/>
                <a:sym typeface="Calibri"/>
              </a:rPr>
              <a:t>Posibile îmbunătățiri: schimbare PIN din interfață, log UART, criptare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2026-05-25T10:18:31Z</dcterms:created>
  <dc:creator>PptxGenJS</dc:creator>
</cp:coreProperties>
</file>